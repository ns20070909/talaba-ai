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Aniqlik ko'rsatkichi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Inson</c:v>
                  </c:pt>
                  <c:pt idx="1">
                    <c:v>AI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65</c:v>
                </c:pt>
                <c:pt idx="1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parametrlari o'sishi</c:v>
                </c:pt>
              </c:strCache>
            </c:strRef>
          </c:tx>
          <c:spPr>
            <a:solidFill>
              <a:srgbClr val="A855F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2018</c:v>
                  </c:pt>
                  <c:pt idx="1">
                    <c:v>2020</c:v>
                  </c:pt>
                  <c:pt idx="2">
                    <c:v>2022</c:v>
                  </c:pt>
                  <c:pt idx="3">
                    <c:v>2024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qo'llanishi (%)</c:v>
                </c:pt>
              </c:strCache>
            </c:strRef>
          </c:tx>
          <c:spPr>
            <a:solidFill>
              <a:srgbClr val="00D9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IT</c:v>
                  </c:pt>
                  <c:pt idx="1">
                    <c:v>Sog'liqni saqlash</c:v>
                  </c:pt>
                  <c:pt idx="2">
                    <c:v>Moliya</c:v>
                  </c:pt>
                  <c:pt idx="3">
                    <c:v>Transport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75</c:v>
                </c:pt>
                <c:pt idx="2">
                  <c:v>80</c:v>
                </c:pt>
                <c:pt idx="3">
                  <c:v>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Xavfsizlik byudjeti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integratsiyasi</c:v>
                </c:pt>
              </c:strCache>
            </c:strRef>
          </c:tx>
          <c:spPr>
            <a:solidFill>
              <a:srgbClr val="00D9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Kichik</c:v>
                  </c:pt>
                  <c:pt idx="1">
                    <c:v>O'rta</c:v>
                  </c:pt>
                  <c:pt idx="2">
                    <c:v>Katta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50</c:v>
                </c:pt>
                <c:pt idx="2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jpeg"/><Relationship Id="rId3" Type="http://schemas.openxmlformats.org/officeDocument/2006/relationships/image" Target="../media/image-4-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jpeg"/><Relationship Id="rId3" Type="http://schemas.openxmlformats.org/officeDocument/2006/relationships/image" Target="../media/image-5-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6-1.jpeg"/><Relationship Id="rId3" Type="http://schemas.openxmlformats.org/officeDocument/2006/relationships/image" Target="../media/image-6-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jpeg"/><Relationship Id="rId3" Type="http://schemas.openxmlformats.org/officeDocument/2006/relationships/image" Target="../media/image-9-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jpeg"/><Relationship Id="rId3" Type="http://schemas.openxmlformats.org/officeDocument/2006/relationships/image" Target="../media/image-10-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10827984/pexels-photo-10827984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5" name="Image 1" descr="https://images.pexels.com/photos/10827984/pexels-photo-10827984.jpeg?auto=compress&amp;cs=tinysrgb&amp;dpr=2&amp;h=650&amp;w=9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2960" y="20116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Sunʼiy Intellekt: Kelajak Texnologiyasi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822960" y="320040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Sunʼiy intellekt global miqyosda innovatsiyalarni qayta belgilamoqda. Biz kelajakning aqlli va avtomatlashtirilgan davriga qadam qo‘ymoqdamiz.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2020309/pexels-photo-2020309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502920"/>
            <a:ext cx="576072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5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73152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Qanday Ishlaydi?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murakkab algoritmlar va katta hajmdagi ma'lumotlar to‘plami orqali o‘rganadi. 🚀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Asosiy bosqichlar: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Ma'lumotlarni yig'ish va tahlil qilish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Naqshlarni aniqlash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Bashoratli modellarni yaratish</a:t>
            </a:r>
            <a:endParaRPr lang="en-US" sz="1500" dirty="0"/>
          </a:p>
        </p:txBody>
      </p:sp>
      <p:pic>
        <p:nvPicPr>
          <p:cNvPr id="8" name="Image 1" descr="https://images.pexels.com/photos/2020309/pexels-photo-2020309.jpeg?auto=compress&amp;cs=tinysrgb&amp;dpr=2&amp;h=650&amp;w=9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914400"/>
            <a:ext cx="4389120" cy="43891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241280" y="685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19233057/pexels-photo-19233057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1" descr="https://images.pexels.com/photos/19233057/pexels-photo-19233057.jpeg?auto=compress&amp;cs=tinysrgb&amp;dpr=2&amp;h=650&amp;w=9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4389120" cy="4389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303520" y="59436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5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669280" y="8229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Ishlab Chiqarish va AI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669280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Sanoat tarmoqlari avtomatlashtirish orqali misli ko‘rilmagan samaradorlikka erishmoqda. 📈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Afzalliklar: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Xatolarni kamaytirish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Ishlab chiqarish tannarxini pasaytirish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24/7 uzluksiz operatsiyalar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0241280" y="685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27141317/pexels-photo-27141317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Strategik Imkoniyatlar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07040" cy="3474720"/>
          </a:xfrm>
          <a:prstGeom prst="roundRect">
            <a:avLst>
              <a:gd name="adj" fmla="val 3158"/>
            </a:avLst>
          </a:prstGeom>
          <a:solidFill>
            <a:srgbClr val="111827">
              <a:alpha val="9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9202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Sunʼiy intellekt kompaniyalarga raqobatbardosh ustunlik taqdim etadi.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0" y="40690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8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4233672"/>
            <a:ext cx="2880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AI qabul qilingan qarorlar aniqligini sezilarli darajada oshiradi.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635240" y="2057400"/>
          <a:ext cx="219456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9235440" y="3017520"/>
            <a:ext cx="0" cy="7315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23544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05840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5" name="Image 1" descr="https://images.pexels.com/photos/27141317/pexels-photo-27141317.jpeg?auto=compress&amp;cs=tinysrgb&amp;dpr=2&amp;h=650&amp;w=94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0"/>
            <a:ext cx="2286000" cy="1920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32728014/pexels-photo-32728014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Evolyutsiyasi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07040" cy="3474720"/>
          </a:xfrm>
          <a:prstGeom prst="roundRect">
            <a:avLst>
              <a:gd name="adj" fmla="val 3158"/>
            </a:avLst>
          </a:prstGeom>
          <a:solidFill>
            <a:srgbClr val="111827">
              <a:alpha val="92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9202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DD6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Texnologiyaning rivojlanish bosqichlari: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DD6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1950-yillar: Nazariy asoslar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DD6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2010-yillar: Deep Learning portlashi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DD6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Hozirgi davr: Generativ AI inqilobi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0" y="40690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A855F7">
              <a:alpha val="82000"/>
            </a:srgbClr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4233672"/>
            <a:ext cx="2880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So'nggi 3 yilda AI modellarining quvvati 100 barobar o'sdi.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635240" y="2057400"/>
          <a:ext cx="219456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8778240" y="1828800"/>
            <a:ext cx="0" cy="2194560"/>
          </a:xfrm>
          <a:prstGeom prst="line">
            <a:avLst/>
          </a:prstGeom>
          <a:noFill/>
          <a:ln w="31750">
            <a:solidFill>
              <a:srgbClr val="A855F7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668512" y="1828800"/>
            <a:ext cx="201168" cy="201168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052560" y="180136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668512" y="2743200"/>
            <a:ext cx="201168" cy="201168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052560" y="271576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668512" y="3657600"/>
            <a:ext cx="201168" cy="201168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9052560" y="363016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235440" y="3017520"/>
            <a:ext cx="0" cy="731520"/>
          </a:xfrm>
          <a:prstGeom prst="line">
            <a:avLst/>
          </a:prstGeom>
          <a:noFill/>
          <a:ln w="25400">
            <a:solidFill>
              <a:srgbClr val="A855F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12480" y="2651760"/>
            <a:ext cx="164592" cy="16459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235440" y="2651760"/>
            <a:ext cx="164592" cy="16459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0058400" y="2651760"/>
            <a:ext cx="164592" cy="16459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pic>
        <p:nvPicPr>
          <p:cNvPr id="22" name="Image 1" descr="https://images.pexels.com/photos/32728014/pexels-photo-32728014.jpeg?auto=compress&amp;cs=tinysrgb&amp;dpr=2&amp;h=650&amp;w=94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0"/>
            <a:ext cx="2286000" cy="19202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30547584/pexels-photo-30547584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Asosiy Funktsiyalar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07040" cy="3474720"/>
          </a:xfrm>
          <a:prstGeom prst="roundRect">
            <a:avLst>
              <a:gd name="adj" fmla="val 3158"/>
            </a:avLst>
          </a:prstGeom>
          <a:solidFill>
            <a:srgbClr val="111827">
              <a:alpha val="92000"/>
            </a:srgbClr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9202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Sunʼiy intellektning imkoniyatlari keng: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0" y="40690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00D9FF">
              <a:alpha val="82000"/>
            </a:srgbClr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4233672"/>
            <a:ext cx="2880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AI dunyo bo'ylab 50 dan ortiq sohada faol qo'llanilmoqda.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635240" y="2057400"/>
          <a:ext cx="219456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9235440" y="3017520"/>
            <a:ext cx="0" cy="731520"/>
          </a:xfrm>
          <a:prstGeom prst="line">
            <a:avLst/>
          </a:prstGeom>
          <a:noFill/>
          <a:ln w="25400">
            <a:solidFill>
              <a:srgbClr val="00D9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23544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05840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15" name="Image 1" descr="https://images.pexels.com/photos/30547584/pexels-photo-30547584.jpeg?auto=compress&amp;cs=tinysrgb&amp;dpr=2&amp;h=650&amp;w=94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0"/>
            <a:ext cx="2286000" cy="1920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9494918/pexels-photo-9494918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4400" y="1463040"/>
            <a:ext cx="10241280" cy="3840480"/>
          </a:xfrm>
          <a:prstGeom prst="roundRect">
            <a:avLst>
              <a:gd name="adj" fmla="val 2857"/>
            </a:avLst>
          </a:prstGeom>
          <a:solidFill>
            <a:srgbClr val="111827">
              <a:alpha val="80000"/>
            </a:srgbClr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737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Iqtisodiy Ta'sir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71600" y="256032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AI iqtisodiy o'sishning asosiy drayveriga aylanmoqda. 🌍</a:t>
            </a:r>
            <a:endParaRPr lang="en-US" sz="1600" dirty="0"/>
          </a:p>
        </p:txBody>
      </p:sp>
      <p:pic>
        <p:nvPicPr>
          <p:cNvPr id="8" name="Image 1" descr="https://images.pexels.com/photos/9494918/pexels-photo-9494918.jpeg?auto=compress&amp;cs=tinysrgb&amp;dpr=2&amp;h=650&amp;w=9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828800"/>
            <a:ext cx="1828800" cy="1828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8386434/pexels-photo-8386434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14400" y="1463040"/>
            <a:ext cx="10241280" cy="3840480"/>
          </a:xfrm>
          <a:prstGeom prst="roundRect">
            <a:avLst>
              <a:gd name="adj" fmla="val 2857"/>
            </a:avLst>
          </a:prstGeom>
          <a:solidFill>
            <a:srgbClr val="111827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737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Inson vs AI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71600" y="256032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E5E7EB"/>
                </a:solidFill>
              </a:rPr>
              <a:t>Inson va AI hamkorligi eng yuqori samaradorlikni beradi.</a:t>
            </a:r>
            <a:endParaRPr lang="en-US" sz="1600" dirty="0"/>
          </a:p>
        </p:txBody>
      </p:sp>
      <p:pic>
        <p:nvPicPr>
          <p:cNvPr id="8" name="Image 1" descr="https://images.pexels.com/photos/8386434/pexels-photo-8386434.jpeg?auto=compress&amp;cs=tinysrgb&amp;dpr=2&amp;h=650&amp;w=94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828800"/>
            <a:ext cx="1828800" cy="1828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29506609/pexels-photo-29506609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Xavfsizlik va Etika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07040" cy="3474720"/>
          </a:xfrm>
          <a:prstGeom prst="roundRect">
            <a:avLst>
              <a:gd name="adj" fmla="val 3158"/>
            </a:avLst>
          </a:prstGeom>
          <a:solidFill>
            <a:srgbClr val="111827">
              <a:alpha val="9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9202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Texnologik taraqqiyot bilan birga axloqiy mas'uliyat ham o'sib bormoqda. 🛡️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Asosiy tamoyillar: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Ma'lumotlar maxfiyligi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Shaffoflik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Adolatli algoritmlar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0" y="40690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8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4233672"/>
            <a:ext cx="2880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AI xavfsizligi bo'yicha sarmoyalar o'tgan yili 60% ga oshdi.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635240" y="2057400"/>
          <a:ext cx="219456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9235440" y="3017520"/>
            <a:ext cx="0" cy="7315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23544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058400" y="2651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5" name="Image 1" descr="https://images.pexels.com/photos/29506609/pexels-photo-29506609.jpeg?auto=compress&amp;cs=tinysrgb&amp;dpr=2&amp;h=650&amp;w=94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0"/>
            <a:ext cx="2286000" cy="1920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images.pexels.com/photos/37911520/pexels-photo-37911520.jpeg?auto=compress&amp;cs=tinysrgb&amp;dpr=2&amp;h=650&amp;w=9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Xulosa: Kelajakka Qadam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731520" y="1645920"/>
            <a:ext cx="10607040" cy="3474720"/>
          </a:xfrm>
          <a:prstGeom prst="roundRect">
            <a:avLst>
              <a:gd name="adj" fmla="val 3158"/>
            </a:avLst>
          </a:prstGeom>
          <a:solidFill>
            <a:srgbClr val="111827">
              <a:alpha val="92000"/>
            </a:srgbClr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9202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Sunʼiy intellekt — shunchaki texnologiya emas, balki insoniyat taraqqiyotining yangi bosqichi. Biz kelajakni birgalikda barpo etamiz. 🚀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Innovatsiyani qabul qiling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Texnologik malakalarni oshiring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Kelajak uchun mas'uliyatni his eting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0" y="406908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00D9FF">
              <a:alpha val="82000"/>
            </a:srgbClr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4233672"/>
            <a:ext cx="288036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📊 AI kelajakdagi 90% kasblarning ajralmas qismiga aylanadi.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635240" y="2057400"/>
          <a:ext cx="219456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9235440" y="3017520"/>
            <a:ext cx="0" cy="731520"/>
          </a:xfrm>
          <a:prstGeom prst="line">
            <a:avLst/>
          </a:prstGeom>
          <a:noFill/>
          <a:ln w="25400">
            <a:solidFill>
              <a:srgbClr val="00D9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23544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058400" y="2651760"/>
            <a:ext cx="164592" cy="164592"/>
          </a:xfrm>
          <a:prstGeom prst="ellipse">
            <a:avLst/>
          </a:prstGeom>
          <a:solidFill>
            <a:srgbClr val="00D9FF"/>
          </a:solidFill>
          <a:ln w="12700">
            <a:solidFill>
              <a:srgbClr val="00D9FF"/>
            </a:solidFill>
            <a:prstDash val="solid"/>
          </a:ln>
        </p:spPr>
      </p:sp>
      <p:pic>
        <p:nvPicPr>
          <p:cNvPr id="15" name="Image 1" descr="https://images.pexels.com/photos/37911520/pexels-photo-37911520.jpeg?auto=compress&amp;cs=tinysrgb&amp;dpr=2&amp;h=650&amp;w=94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828800"/>
            <a:ext cx="2286000" cy="1920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0" y="62179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Talaba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</dc:title>
  <dc:subject>ai</dc:subject>
  <dc:creator>Talaba AI</dc:creator>
  <cp:lastModifiedBy>Talaba AI</cp:lastModifiedBy>
  <cp:revision>1</cp:revision>
  <dcterms:created xsi:type="dcterms:W3CDTF">2026-06-03T12:34:16Z</dcterms:created>
  <dcterms:modified xsi:type="dcterms:W3CDTF">2026-06-03T12:34:16Z</dcterms:modified>
</cp:coreProperties>
</file>